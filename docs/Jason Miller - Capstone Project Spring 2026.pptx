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53282670f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53282670f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is a demo-quality RMF assistant, not a generic chatbot. The core idea is grounded reasoning over policy and control evidence, with citations and disciplined abstention.</a:t>
            </a:r>
            <a:endParaRPr/>
          </a:p>
        </p:txBody>
      </p:sp>
      <p:sp>
        <p:nvSpPr>
          <p:cNvPr id="55" name="Google Shape;55;g3d53282670f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53282670f_2_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d53282670f_2_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motivation is not 'chat with documents.' The real problem is finding relevant policy evidence, connecting it to RMF controls, and avoiding overconfident answers when evidence is weak.</a:t>
            </a:r>
            <a:endParaRPr/>
          </a:p>
        </p:txBody>
      </p:sp>
      <p:sp>
        <p:nvSpPr>
          <p:cNvPr id="76" name="Google Shape;76;g3d53282670f_2_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3282670f_2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d53282670f_2_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RMF simple. The audience needs to understand why policy-to-control reasoning matters.</a:t>
            </a:r>
            <a:endParaRPr/>
          </a:p>
        </p:txBody>
      </p:sp>
      <p:sp>
        <p:nvSpPr>
          <p:cNvPr id="99" name="Google Shape;99;g3d53282670f_2_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3282670f_2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d53282670f_2_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Emphasize what was built and what was intentionally not claimed.</a:t>
            </a:r>
            <a:endParaRPr/>
          </a:p>
        </p:txBody>
      </p:sp>
      <p:sp>
        <p:nvSpPr>
          <p:cNvPr id="116" name="Google Shape;116;g3d53282670f_2_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53282670f_2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d53282670f_2_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important separation is: preparation path, serving path, answer rendering, deployment path. Qdrant should be explicit.</a:t>
            </a:r>
            <a:endParaRPr/>
          </a:p>
        </p:txBody>
      </p:sp>
      <p:sp>
        <p:nvSpPr>
          <p:cNvPr id="132" name="Google Shape;132;g3d53282670f_2_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53282670f_2_1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d53282670f_2_1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committed source data means the demo does not depend on a raw OSCAL clone at presentation time.</a:t>
            </a:r>
            <a:endParaRPr/>
          </a:p>
        </p:txBody>
      </p:sp>
      <p:sp>
        <p:nvSpPr>
          <p:cNvPr id="164" name="Google Shape;164;g3d53282670f_2_1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53282670f_2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d53282670f_2_1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retrieval-only vs retrieval-plus-LLM mode. The LLM is downstream of retrieval.</a:t>
            </a:r>
            <a:endParaRPr/>
          </a:p>
        </p:txBody>
      </p:sp>
      <p:sp>
        <p:nvSpPr>
          <p:cNvPr id="195" name="Google Shape;195;g3d53282670f_2_1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53282670f_2_1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53282670f_2_1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key differentiator. The UI signals how much trust the user should place in the answer.</a:t>
            </a:r>
            <a:endParaRPr/>
          </a:p>
        </p:txBody>
      </p:sp>
      <p:sp>
        <p:nvSpPr>
          <p:cNvPr id="219" name="Google Shape;219;g3d53282670f_2_1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53282670f_2_1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d53282670f_2_1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eval framing is not only 'did it answer' but 'did it answer with the right evidence and abstain when appropriate.'</a:t>
            </a:r>
            <a:endParaRPr/>
          </a:p>
        </p:txBody>
      </p:sp>
      <p:sp>
        <p:nvSpPr>
          <p:cNvPr id="252" name="Google Shape;252;g3d53282670f_2_1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53282670f_2_2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d53282670f_2_2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 improved retrieval quality, especially context precision, without degrading coverage accuracy or abstention.</a:t>
            </a:r>
            <a:endParaRPr/>
          </a:p>
        </p:txBody>
      </p:sp>
      <p:sp>
        <p:nvSpPr>
          <p:cNvPr id="275" name="Google Shape;275;g3d53282670f_2_2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53282670f_2_2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d53282670f_2_2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 the project as a technically grounded academic prototype with a cleaner demo and deployment story.</a:t>
            </a:r>
            <a:endParaRPr/>
          </a:p>
        </p:txBody>
      </p:sp>
      <p:sp>
        <p:nvSpPr>
          <p:cNvPr id="288" name="Google Shape;288;g3d53282670f_2_2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53282670f_2_2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d53282670f_2_2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policy question, then framework query, end with policy-vs-control reasoning. If OpenRouter is unstable, switch to retrieval-only.</a:t>
            </a:r>
            <a:endParaRPr/>
          </a:p>
        </p:txBody>
      </p:sp>
      <p:sp>
        <p:nvSpPr>
          <p:cNvPr id="312" name="Google Shape;312;g3d53282670f_2_2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RMF Assistant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Evidence-Grounded Policy and 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Reasoning for RMF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UMBC DATA 606 Capstone  •  Jason Miller  •  April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1097280" y="443484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806" y="452536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822960" y="486460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Policy 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017520" y="443484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8046" y="452536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2743200" y="486460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937760" y="443484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8286" y="452536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4663440" y="486460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Hybrid 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858000" y="443484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8526" y="452536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6583680" y="486460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Chat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Project Exists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1/10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57200" y="123444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640080" y="22402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Document-Heavy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40080" y="265176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RMF teams navigate extensive policy texts and framework controls daily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337560" y="123444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3520440" y="22402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Analyst Effort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520440" y="265176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Connecting policy evidence to controls is slow, repetitive, and error-prone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217920" y="123444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6400800" y="22402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Need: Auditable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400800" y="265176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Reduce search effort while keeping answers traceable and honest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063240" y="2103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943600" y="2103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Goal: reduce search effort while keeping answers auditable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RMF Is and Why It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2/10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48640" y="109728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Risk Management Framework (RMF)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Guides security and privacy risk management for information systems.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n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Depends on mapping controls, policies, and implementation evidence.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n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Traceability is essential: what requirement, what evidence, what gap?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n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This project helps the reasoning step — it does not replace assessors.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486400" y="1371600"/>
            <a:ext cx="292608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5486400" y="13716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RMF Control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486400" y="2468880"/>
            <a:ext cx="292608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5486400" y="24688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Policy Evidence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486400" y="3566160"/>
            <a:ext cx="2926080" cy="6400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5486400" y="35661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Analyst Decision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812280" y="20116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812280" y="31089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Objective and Scope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3/10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Was Built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31520" y="182880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Grounded answers with citations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Policy Q&amp;A and coverage reasoning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Retrieval-only or retrieval + OpenRouter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Honest abstention when evidence is weak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Intentionally Out of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029200" y="182880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autonomous compliance decisions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enterprise-scale orchestration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 replacing human assessors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4/10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20040" y="1188720"/>
            <a:ext cx="19659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320040" y="1188720"/>
            <a:ext cx="196596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/>
          <p:nvPr/>
        </p:nvSpPr>
        <p:spPr>
          <a:xfrm>
            <a:off x="457200" y="2103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Prepare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57200" y="2514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Source data chunked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and indexed offline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532888" y="1188720"/>
            <a:ext cx="19659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2532888" y="1188720"/>
            <a:ext cx="19659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8688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2670048" y="2103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670048" y="2514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Hybrid retrieval via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BM25 + Qdrant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745736" y="1188720"/>
            <a:ext cx="19659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745736" y="1188720"/>
            <a:ext cx="19659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1536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4882896" y="2103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882896" y="2514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Optional OpenRouter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after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958584" y="1188720"/>
            <a:ext cx="19659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6958584" y="1188720"/>
            <a:ext cx="196596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4384" y="1463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/>
          <p:nvPr/>
        </p:nvSpPr>
        <p:spPr>
          <a:xfrm>
            <a:off x="7095744" y="2103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095744" y="2514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Answer-state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renders trust signals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377440" y="21945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590288" y="21945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6803136" y="21945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Qdrant = external dense retrieval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and Retrieval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5/10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365760" y="1371600"/>
            <a:ext cx="155448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65760" y="13716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OSCAL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Synthetic Policies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920240" y="15544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240280" y="1371600"/>
            <a:ext cx="109728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2240280" y="137160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Chunking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337560" y="15544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657600" y="1371600"/>
            <a:ext cx="109728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3657600" y="137160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BM25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754880" y="15544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074920" y="1371600"/>
            <a:ext cx="137160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5074920" y="137160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→ Qdrant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446520" y="15544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766560" y="1371600"/>
            <a:ext cx="128016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6766560" y="1371600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31520" y="292608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731520" y="30175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324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31520" y="3703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OSCAL Controls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566160" y="292608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3566160" y="30175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566160" y="3703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Synthetic Policies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400800" y="292608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6400800" y="30175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Hybrid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400800" y="3703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Dense + BM25 Fusion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Runtime Answer 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6/10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57200" y="1188720"/>
            <a:ext cx="20116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457200" y="118872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User Question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468880" y="123444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834640" y="1188720"/>
            <a:ext cx="228600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2834640" y="118872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Classify &amp; Retrieve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749040" y="19202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14400" y="24688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914400" y="2468880"/>
            <a:ext cx="274320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914400" y="24688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LLM_BACKEND=none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097280" y="297180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Retrieval-only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Cited evidence chunks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without LLM generation.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029200" y="246888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029200" y="2468880"/>
            <a:ext cx="32004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029200" y="24688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LLM_BACKEND=openrouter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212080" y="297180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Grounded generation using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retrieved evidence. Falls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retrieval-only if unavailable.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743200" y="4160520"/>
            <a:ext cx="365760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2743200" y="41605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Answer-State Rendering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Trustworthiness and Answer-State Logic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7/10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48640" y="11887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48640" y="11887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822960" y="155448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1325880" y="132588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Strong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383280" y="11887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3383280" y="118872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3657600" y="15544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4160520" y="132588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Limited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217920" y="11887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6217920" y="1188720"/>
            <a:ext cx="73152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6995160" y="132588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Conflicting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48640" y="274320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48640" y="2743200"/>
            <a:ext cx="73152" cy="11887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822960" y="3108960"/>
            <a:ext cx="365760" cy="365760"/>
          </a:xfrm>
          <a:prstGeom prst="ellipse">
            <a:avLst/>
          </a:prstGeom>
          <a:solidFill>
            <a:srgbClr val="5A6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1325880" y="2880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383280" y="274320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3383280" y="2743200"/>
            <a:ext cx="73152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3657600" y="31089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4160520" y="2880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Retrieval-Only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Fallback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217920" y="274320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6217920" y="274320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6492240" y="310896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6995160" y="288036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Error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Citations and retrieved evidence are always shown as the source of truth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Approach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8/10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57200" y="1188720"/>
            <a:ext cx="1874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457200" y="128016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57200" y="21488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606040" y="1188720"/>
            <a:ext cx="1874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2606040" y="128016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606040" y="21488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754880" y="1188720"/>
            <a:ext cx="1874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4754880" y="128016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4754880" y="21488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Policy 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903720" y="1188720"/>
            <a:ext cx="18745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6903720" y="128016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000"/>
              <a:buFont typeface="Trebuchet MS"/>
              <a:buNone/>
            </a:pPr>
            <a:r>
              <a:rPr b="1" i="0" lang="en" sz="40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903720" y="21488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40-Question Golden 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Reported metrics: </a:t>
            </a: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Context Precision  •  Coverage Accuracy  •  Abstention  •  Overall 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Separates runtime behavior from evaluation artifacts: the app serves answers, the eval set scores grounding quality.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and Progress Highlights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9/10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53035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/>
          <p:nvPr/>
        </p:nvSpPr>
        <p:spPr>
          <a:xfrm>
            <a:off x="6035040" y="1188720"/>
            <a:ext cx="283464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6035040" y="1188720"/>
            <a:ext cx="283464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6035040" y="1188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Recommended Config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217920" y="1783080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equal_rerank20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"/>
              <a:buFont typeface="Calibri"/>
              <a:buNone/>
            </a:pPr>
            <a:br>
              <a:rPr b="0" i="0" lang="en" sz="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Overall:  0.8989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Coverage:  0.9750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Abstention:  1.0000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"/>
              <a:buFont typeface="Calibri"/>
              <a:buNone/>
            </a:pPr>
            <a:br>
              <a:rPr b="0" i="0" lang="en" sz="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Policy-vs-Control gain: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0.7758 → 0.8485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8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48640" y="9144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Final System State and Deliverables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7772400" y="914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10/10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/>
          <p:nvPr/>
        </p:nvSpPr>
        <p:spPr>
          <a:xfrm>
            <a:off x="1417320" y="1280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 UI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1417320" y="16916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Policy Q&amp;A, framework lookup, policy-vs-control 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/>
          <p:nvPr/>
        </p:nvSpPr>
        <p:spPr>
          <a:xfrm>
            <a:off x="5715000" y="1280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5715000" y="16916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BM25 + Qdrant dense retrieval with fusion and reranking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457200" y="278892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1089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/>
          <p:nvPr/>
        </p:nvSpPr>
        <p:spPr>
          <a:xfrm>
            <a:off x="1417320" y="2971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Trust &amp; Answer States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1417320" y="3383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6-state answer classification with inline policy viewing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4754880" y="2788920"/>
            <a:ext cx="39319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1089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/>
          <p:nvPr/>
        </p:nvSpPr>
        <p:spPr>
          <a:xfrm>
            <a:off x="5715000" y="2971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 Ready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0" y="3383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Containerized app + Qdrant, 45 unit tests passing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731520" y="228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Not included in main slide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731520" y="2286000"/>
            <a:ext cx="685800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914400" y="2286000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1.  What does our access control policy say about least privilege?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731520" y="3017520"/>
            <a:ext cx="685800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914400" y="3017520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2.  Summarize the requirement in AC-2.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731520" y="3749040"/>
            <a:ext cx="685800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914400" y="3749040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8F1F8"/>
                </a:solidFill>
                <a:latin typeface="Calibri"/>
                <a:ea typeface="Calibri"/>
                <a:cs typeface="Calibri"/>
                <a:sym typeface="Calibri"/>
              </a:rPr>
              <a:t>3.  How well do our policies cover PL-2 based on the mini SSP?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731520" y="4434840"/>
            <a:ext cx="685800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731520" y="44348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Watch for:  Citations  •  Retrieved Evidence  •  Answer-State Banner  •  Full-Policy Viewer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